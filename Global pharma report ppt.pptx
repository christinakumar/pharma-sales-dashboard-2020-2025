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84CD-1B5D-7F58-ED26-91F3325C1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DA2D2-B487-EF69-4378-4CE2792D2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EA6E1-1907-C38D-ACC5-1CF196EF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66295-6D7C-3D49-B64B-52D88997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F1B24-5D88-8038-449B-1E712BFD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114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3728-DC5F-025A-9B67-F0BD80D5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0F8A-8B1D-EDFC-F797-B006D4E0F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389FB-FEF8-FA89-D637-E738B460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8DF4F-3736-D14E-8C24-953F161A0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631E7-F0EA-ADA7-FC62-8AC6B142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75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316C-D1D9-6AD4-7248-227D413D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ADC58-EE78-D857-31B8-AB343A20D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4D5C6-D2E3-A6AE-A983-FEE50B27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0959A-033D-3A94-9C9B-19A8646C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8007D-CF4A-6F96-B823-DFD697A9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78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D65B-0A49-586E-B181-C8C8B989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3ED44-35AA-C39A-B6EF-8809F1039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DC19A-33D9-89CE-6547-64F367C29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7CC16-3592-019C-0FA5-9B7FF1C5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AF0D9-98CB-180A-E92D-9F928DF7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96023-EC39-26CD-8BCC-012FEA9EF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84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E409-0598-1ABB-44E4-FEFEF361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760F3-9972-1A6C-AE2A-15E36F225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CFBB4-B9C5-974E-159C-B564D0804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1177FC-758B-8F26-B37F-DC60FB10A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55C43-A4E0-472C-3747-AB6899D95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44414-B04F-39CB-9AB5-10670125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E1FD09-23C6-5D0E-0BCF-DA1FD1A0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06B29-562E-DC93-3810-AA6370CE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95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93CD-ED5C-9A8A-35F5-0DB0FC8A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B6863-ED38-AB9B-939E-99F8C920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AF8B6-84BA-4A85-4584-78EAF5B6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626CC-2562-411E-F74C-6CF2C8EC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2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452CF-E7F8-047D-5762-64AA34EB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9A117-FDFC-3456-F667-3B85FB07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AF74B-B491-9C50-9F71-6DDC2F42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55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B06CF-AFBD-18C8-B38C-667A5295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BDE64-815F-C3E6-C3ED-610E4D593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75FB8-7666-2996-7E2B-21DC07C82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D754C-3FB8-E454-251B-697CF6BD0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8EB3B-05EB-3066-B8A4-FD2E6DA9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36F39-0A37-736A-FEDA-E19B3C37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17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06032-D134-647C-5DFC-D58E858B3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DBE3C-985A-02D7-BB6E-615E8982C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8AD65-8664-2ABB-A926-CB994E1CF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58437-FF45-88E6-6EEA-C0C7711CD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E1B7B-C28A-CE8B-F9EF-9CFA885B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FD4BC-8F0C-BF54-7E29-39F6AECF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78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80657-8C32-09A5-9128-B13CB2F0B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2C3BE-2BB5-F4F4-47E6-E49BB2BF8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76CC1-FCFC-7A47-A6B3-E784990A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B88F8-9452-23FB-A1CC-E5D1AA67E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3F4B3-E784-2560-5C92-3F682B01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56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D04C5-2422-E28B-6724-51D7D77DE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D461D-CCA1-43C0-62D8-9E6CBA508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F5E92-8883-AC8B-01A5-45D658EE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5DFC-5EBD-B894-4715-0E4CD8AB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C0F43-D592-9882-6061-E0693B8D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9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80CFD-C374-300A-04D8-75846CB8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1EBB0-B724-23BC-C71F-C75DDED29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A3BEF-9EDF-DCDF-A5E5-10F030391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F8AF7-5374-4C2C-8377-0FF14B275CBC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E7E6F-3B08-D87A-0C9A-E4674697E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7A4AA-3D65-ED85-3C64-0E6F6B459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4ED61-FEC5-4A83-BA53-6B112BC71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83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7713-B5BE-5F2F-18C1-56BBF60B19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Global Pharmacy Sales Analysis (2020–2025)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D7FAA-455D-045C-82EE-370BB2F688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Power BI Dashboard | Excel | Data Analytics Project</a:t>
            </a:r>
          </a:p>
          <a:p>
            <a:endParaRPr lang="en-IN" dirty="0"/>
          </a:p>
          <a:p>
            <a:r>
              <a:rPr lang="en-IN" dirty="0"/>
              <a:t>Christina kumar</a:t>
            </a:r>
          </a:p>
          <a:p>
            <a:r>
              <a:rPr lang="en-IN" dirty="0"/>
              <a:t>June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122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B12889-84A2-ADC1-2B55-F54FBA445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864" y="1075147"/>
            <a:ext cx="9340645" cy="4755382"/>
          </a:xfrm>
        </p:spPr>
        <p:txBody>
          <a:bodyPr>
            <a:normAutofit fontScale="40000" lnSpcReduction="20000"/>
          </a:bodyPr>
          <a:lstStyle/>
          <a:p>
            <a:endParaRPr lang="en-IN" sz="16000" b="1" dirty="0"/>
          </a:p>
          <a:p>
            <a:r>
              <a:rPr lang="en-IN" sz="8000" b="1" dirty="0"/>
              <a:t>OBJECTIVE</a:t>
            </a:r>
          </a:p>
          <a:p>
            <a:br>
              <a:rPr lang="en-IN" sz="8000" b="1" dirty="0"/>
            </a:br>
            <a:r>
              <a:rPr lang="en-IN" sz="8000" dirty="0"/>
              <a:t>Analyse global pharmacy sales data to identify revenue trends, inventory utilization, product performance, and opportunities to improve business decisions.</a:t>
            </a:r>
            <a:br>
              <a:rPr lang="en-IN" sz="8000" dirty="0"/>
            </a:br>
            <a:endParaRPr lang="en-IN" sz="8000" dirty="0"/>
          </a:p>
          <a:p>
            <a:endParaRPr lang="en-IN" sz="8000" b="1" dirty="0"/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39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83559-30EB-8EEF-E61D-43AAD19984B3}"/>
              </a:ext>
            </a:extLst>
          </p:cNvPr>
          <p:cNvSpPr txBox="1"/>
          <p:nvPr/>
        </p:nvSpPr>
        <p:spPr>
          <a:xfrm>
            <a:off x="527090" y="105013"/>
            <a:ext cx="49824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Workflow</a:t>
            </a:r>
          </a:p>
          <a:p>
            <a:pPr>
              <a:buNone/>
            </a:pPr>
            <a:r>
              <a:rPr lang="en-IN" b="1" dirty="0"/>
              <a:t>Tools Used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Microsoft Excel:</a:t>
            </a:r>
            <a:r>
              <a:rPr lang="en-IN" dirty="0"/>
              <a:t> Data cleaning, validation, Pivot Tables, Pivot Charts, and exploratory data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Power Query:</a:t>
            </a:r>
            <a:r>
              <a:rPr lang="en-IN" dirty="0"/>
              <a:t> Imported and transformed the dataset for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Power BI:</a:t>
            </a:r>
            <a:r>
              <a:rPr lang="en-IN" dirty="0"/>
              <a:t> Built an interactive dashboard with KPIs, DAX measures, slicers, and business visualizations.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F5D61-844C-60A1-0C09-203B34CAB716}"/>
              </a:ext>
            </a:extLst>
          </p:cNvPr>
          <p:cNvSpPr txBox="1"/>
          <p:nvPr/>
        </p:nvSpPr>
        <p:spPr>
          <a:xfrm>
            <a:off x="527091" y="2967335"/>
            <a:ext cx="54509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Analytical Workflow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Imported and explored the raw dataset in Excel.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Performed data cleaning and validation using Excel.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Created Pivot Tables and Pivot Charts to identify trends and verify key metrics.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Loaded the cleaned dataset into Power BI using Power Query.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Developed DAX measures and for revenue, capital utilization, and unsold inventory.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Built an interactive dashboard with filters and business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Presented findings and recommendations based on the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C374E-DC42-31A9-3E31-626063EBD77A}"/>
              </a:ext>
            </a:extLst>
          </p:cNvPr>
          <p:cNvSpPr txBox="1"/>
          <p:nvPr/>
        </p:nvSpPr>
        <p:spPr>
          <a:xfrm>
            <a:off x="6912077" y="105013"/>
            <a:ext cx="49824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Source:</a:t>
            </a:r>
            <a:r>
              <a:rPr lang="en-IN" dirty="0"/>
              <a:t> Kaggle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</a:t>
            </a:r>
            <a:r>
              <a:rPr lang="en-IN" i="1" dirty="0"/>
              <a:t>Global Pharmacy Sales (2020–2025) daily dataset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Format:</a:t>
            </a:r>
            <a:r>
              <a:rPr lang="en-IN" dirty="0"/>
              <a:t> CSV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Key Variables:</a:t>
            </a:r>
            <a:r>
              <a:rPr lang="en-IN" dirty="0"/>
              <a:t> Country, Medicine, Revenue, Units Sold, Unit Price, Stock Level, Expiry Days Remaining, etc.</a:t>
            </a:r>
          </a:p>
        </p:txBody>
      </p:sp>
    </p:spTree>
    <p:extLst>
      <p:ext uri="{BB962C8B-B14F-4D97-AF65-F5344CB8AC3E}">
        <p14:creationId xmlns:p14="http://schemas.microsoft.com/office/powerpoint/2010/main" val="35712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E0D679-3CA1-E493-D700-8B9B4F644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" t="5071" r="342" b="5071"/>
          <a:stretch>
            <a:fillRect/>
          </a:stretch>
        </p:blipFill>
        <p:spPr>
          <a:xfrm>
            <a:off x="0" y="0"/>
            <a:ext cx="7014258" cy="4525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422C8D-A96B-1F38-32CF-87686DE7E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128" y="1344749"/>
            <a:ext cx="8684872" cy="551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9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2BBA75-4611-798B-9B3D-C140B4A95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2599" y="1202980"/>
            <a:ext cx="2616343" cy="1655762"/>
          </a:xfrm>
        </p:spPr>
        <p:txBody>
          <a:bodyPr>
            <a:noAutofit/>
          </a:bodyPr>
          <a:lstStyle/>
          <a:p>
            <a:r>
              <a:rPr lang="en-IN" sz="2000" b="1" dirty="0"/>
              <a:t>Dashboard Features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Interactive Year &amp; Country slicers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Capital utilization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Top-performing countries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Top-performing medicines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Unsold inventory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Revenue trend over time</a:t>
            </a:r>
          </a:p>
          <a:p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3A50E1-54F8-D729-C085-CA95687ED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1" t="4468" r="12562" b="3502"/>
          <a:stretch>
            <a:fillRect/>
          </a:stretch>
        </p:blipFill>
        <p:spPr>
          <a:xfrm>
            <a:off x="1" y="0"/>
            <a:ext cx="93725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61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1A1B23-E156-475D-0385-9D1E79CF71D6}"/>
              </a:ext>
            </a:extLst>
          </p:cNvPr>
          <p:cNvSpPr txBox="1"/>
          <p:nvPr/>
        </p:nvSpPr>
        <p:spPr>
          <a:xfrm>
            <a:off x="8996516" y="1443841"/>
            <a:ext cx="31954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Revenue declined sharply after 2021 before stabilizing.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Units sold followed a similar downward trend.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Inventory levels increased despite declining sales.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Unit price showed year-to-year variation, with the highest values recorded in 2024.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Expiry days remaining varied across years, with the highest value in 2024 followed by a decline in 2025.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57281-495B-2BCA-DB24-4AAA40CDF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2" t="12340" r="12338" b="12340"/>
          <a:stretch>
            <a:fillRect/>
          </a:stretch>
        </p:blipFill>
        <p:spPr>
          <a:xfrm>
            <a:off x="-1" y="4"/>
            <a:ext cx="8856000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5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24F4-28C6-3180-A8D2-059E80AE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35" y="1053383"/>
            <a:ext cx="5582265" cy="1325563"/>
          </a:xfrm>
        </p:spPr>
        <p:txBody>
          <a:bodyPr/>
          <a:lstStyle/>
          <a:p>
            <a:r>
              <a:rPr lang="en-IN" b="1" dirty="0"/>
              <a:t>Key Business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384A0-8270-3734-8AE5-AB19F605E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6516"/>
            <a:ext cx="5181600" cy="480044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Revenue: </a:t>
            </a:r>
            <a:r>
              <a:rPr lang="en-IN" b="1" dirty="0"/>
              <a:t>4.19B</a:t>
            </a:r>
            <a:r>
              <a:rPr lang="en-IN" dirty="0"/>
              <a:t> </a:t>
            </a:r>
          </a:p>
          <a:p>
            <a:r>
              <a:rPr lang="en-IN" dirty="0"/>
              <a:t>Units Sold: </a:t>
            </a:r>
            <a:r>
              <a:rPr lang="en-IN" b="1" dirty="0"/>
              <a:t>80M</a:t>
            </a:r>
            <a:r>
              <a:rPr lang="en-IN" dirty="0"/>
              <a:t> </a:t>
            </a:r>
          </a:p>
          <a:p>
            <a:r>
              <a:rPr lang="en-IN" dirty="0"/>
              <a:t>Capital Utilization: </a:t>
            </a:r>
            <a:r>
              <a:rPr lang="en-IN" b="1" dirty="0"/>
              <a:t>85.15%</a:t>
            </a:r>
            <a:r>
              <a:rPr lang="en-IN" dirty="0"/>
              <a:t> </a:t>
            </a:r>
          </a:p>
          <a:p>
            <a:r>
              <a:rPr lang="en-IN" dirty="0"/>
              <a:t>Unsold Inventory: </a:t>
            </a:r>
            <a:r>
              <a:rPr lang="en-IN" b="1" dirty="0"/>
              <a:t>731M</a:t>
            </a:r>
            <a:r>
              <a:rPr lang="en-IN" dirty="0"/>
              <a:t> </a:t>
            </a:r>
          </a:p>
          <a:p>
            <a:r>
              <a:rPr lang="en-IN" dirty="0"/>
              <a:t>Brazil generated the highest revenue. </a:t>
            </a:r>
          </a:p>
          <a:p>
            <a:r>
              <a:rPr lang="en-IN" dirty="0"/>
              <a:t>Top revenue medicines: Paracetamol, Multivitamin, Ibuprofen, Metformin, Vitamin C. </a:t>
            </a:r>
          </a:p>
          <a:p>
            <a:r>
              <a:rPr lang="en-IN" dirty="0"/>
              <a:t>Demand slowed after 2021 while inventory continued to accumulate. </a:t>
            </a:r>
          </a:p>
          <a:p>
            <a:r>
              <a:rPr lang="en-IN" dirty="0"/>
              <a:t>Stable pricing indicates revenue decline was primarily volume-driven.</a:t>
            </a:r>
          </a:p>
          <a:p>
            <a:r>
              <a:rPr lang="en-IN" dirty="0"/>
              <a:t>The peak in average unit price during 2024 did not coincide with a further decline in sales, indicating that pricing alone may not explain the overall sales trend.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D9FD6-1CA2-C02E-0082-7D73F7D76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0355" y="2100928"/>
            <a:ext cx="5181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Business Recommendations</a:t>
            </a:r>
          </a:p>
          <a:p>
            <a:r>
              <a:rPr lang="en-IN" dirty="0"/>
              <a:t>Reduce excess inventory for slow-moving medicines. </a:t>
            </a:r>
          </a:p>
          <a:p>
            <a:r>
              <a:rPr lang="en-IN" dirty="0"/>
              <a:t>Prioritize high-performing markets. </a:t>
            </a:r>
          </a:p>
          <a:p>
            <a:r>
              <a:rPr lang="en-IN" dirty="0"/>
              <a:t>Optimize procurement based on sales trends. </a:t>
            </a:r>
          </a:p>
          <a:p>
            <a:r>
              <a:rPr lang="en-IN" dirty="0"/>
              <a:t>Strengthen inventory monitoring to improve capital utilization.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138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7CFB-1F45-89BB-BFF4-2EE4FAA2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5" y="365125"/>
            <a:ext cx="10852355" cy="1325563"/>
          </a:xfrm>
        </p:spPr>
        <p:txBody>
          <a:bodyPr/>
          <a:lstStyle/>
          <a:p>
            <a:r>
              <a:rPr lang="en-IN" b="1" dirty="0"/>
              <a:t>Skills Demonstrated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F9847-475F-910F-7D2F-3B17E5755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334012"/>
            <a:ext cx="5181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5600" b="1" dirty="0"/>
              <a:t>Technical Skills</a:t>
            </a:r>
          </a:p>
          <a:p>
            <a:r>
              <a:rPr lang="en-IN" sz="5600" dirty="0"/>
              <a:t>Microsoft Excel </a:t>
            </a:r>
          </a:p>
          <a:p>
            <a:r>
              <a:rPr lang="en-IN" sz="5600" dirty="0"/>
              <a:t>Pivot Tables </a:t>
            </a:r>
          </a:p>
          <a:p>
            <a:r>
              <a:rPr lang="en-IN" sz="5600" dirty="0"/>
              <a:t>VLOOKUP/XLOOKUP </a:t>
            </a:r>
          </a:p>
          <a:p>
            <a:r>
              <a:rPr lang="en-IN" sz="5600" dirty="0"/>
              <a:t>Power Query </a:t>
            </a:r>
          </a:p>
          <a:p>
            <a:r>
              <a:rPr lang="en-IN" sz="5600" dirty="0"/>
              <a:t>Power BI </a:t>
            </a:r>
          </a:p>
          <a:p>
            <a:r>
              <a:rPr lang="en-IN" sz="5600" dirty="0"/>
              <a:t>Created DAX measures to calculate:</a:t>
            </a:r>
          </a:p>
          <a:p>
            <a:r>
              <a:rPr lang="en-IN" sz="5600" b="1" dirty="0"/>
              <a:t>Total Revenue</a:t>
            </a:r>
            <a:r>
              <a:rPr lang="en-IN" sz="5600" dirty="0"/>
              <a:t> </a:t>
            </a:r>
          </a:p>
          <a:p>
            <a:r>
              <a:rPr lang="en-IN" sz="5600" b="1" dirty="0"/>
              <a:t>Total Units Sold</a:t>
            </a:r>
            <a:r>
              <a:rPr lang="en-IN" sz="5600" dirty="0"/>
              <a:t> </a:t>
            </a:r>
          </a:p>
          <a:p>
            <a:r>
              <a:rPr lang="en-IN" sz="5600" b="1" dirty="0"/>
              <a:t>Total Unsold Stock Value</a:t>
            </a:r>
            <a:r>
              <a:rPr lang="en-IN" sz="5600" dirty="0"/>
              <a:t> </a:t>
            </a:r>
          </a:p>
          <a:p>
            <a:r>
              <a:rPr lang="en-IN" sz="5600" b="1" dirty="0"/>
              <a:t>Capital Utilization Percentage</a:t>
            </a:r>
            <a:endParaRPr lang="en-IN" sz="5600" dirty="0"/>
          </a:p>
          <a:p>
            <a:pPr marL="0" indent="0">
              <a:buNone/>
            </a:pPr>
            <a:endParaRPr lang="en-IN" sz="5600" dirty="0"/>
          </a:p>
          <a:p>
            <a:pPr marL="0" indent="0">
              <a:buNone/>
            </a:pPr>
            <a:r>
              <a:rPr lang="en-IN" sz="5600" b="1" dirty="0"/>
              <a:t>Analytical Skills</a:t>
            </a:r>
            <a:endParaRPr lang="en-IN" sz="5600" dirty="0"/>
          </a:p>
          <a:p>
            <a:r>
              <a:rPr lang="en-IN" sz="5600" dirty="0"/>
              <a:t>Trend Analysis </a:t>
            </a:r>
          </a:p>
          <a:p>
            <a:r>
              <a:rPr lang="en-IN" sz="5600" dirty="0"/>
              <a:t>Inventory Analysis </a:t>
            </a:r>
          </a:p>
          <a:p>
            <a:r>
              <a:rPr lang="en-IN" sz="5600" dirty="0"/>
              <a:t>Business Insight Generation </a:t>
            </a:r>
          </a:p>
          <a:p>
            <a:r>
              <a:rPr lang="en-IN" sz="5600" dirty="0"/>
              <a:t>Data Visualization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E938B3-A4AE-3C4B-E985-696098E93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858" y="4863792"/>
            <a:ext cx="5181600" cy="192046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/>
              <a:t>Conclusion</a:t>
            </a:r>
          </a:p>
          <a:p>
            <a:r>
              <a:rPr lang="en-IN" sz="7200" dirty="0"/>
              <a:t>This dashboard transformed raw pharmacy sales data into actionable business insights by identifying revenue patterns, inventory inefficiencies, and market performance. The analysis demonstrates how data visualization can support strategic decision-making in pharmaceutical supply chain and sales management.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610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504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Global Pharmacy Sales Analysis (2020–2025)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Business Insights </vt:lpstr>
      <vt:lpstr>Skills Demonstrated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kumar</dc:creator>
  <cp:lastModifiedBy>christina kumar</cp:lastModifiedBy>
  <cp:revision>2</cp:revision>
  <dcterms:created xsi:type="dcterms:W3CDTF">2026-06-30T18:57:38Z</dcterms:created>
  <dcterms:modified xsi:type="dcterms:W3CDTF">2026-06-30T19:45:50Z</dcterms:modified>
</cp:coreProperties>
</file>